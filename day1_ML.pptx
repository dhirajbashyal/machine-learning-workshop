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4" r:id="rId4"/>
    <p:sldId id="257" r:id="rId5"/>
    <p:sldId id="258" r:id="rId6"/>
    <p:sldId id="275" r:id="rId7"/>
    <p:sldId id="276" r:id="rId8"/>
    <p:sldId id="259" r:id="rId9"/>
    <p:sldId id="260" r:id="rId10"/>
    <p:sldId id="261" r:id="rId11"/>
    <p:sldId id="262" r:id="rId12"/>
    <p:sldId id="278" r:id="rId13"/>
    <p:sldId id="279" r:id="rId14"/>
    <p:sldId id="280" r:id="rId15"/>
    <p:sldId id="281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600"/>
    <a:srgbClr val="F7A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82"/>
    <p:restoredTop sz="94610"/>
  </p:normalViewPr>
  <p:slideViewPr>
    <p:cSldViewPr snapToGrid="0" snapToObjects="1">
      <p:cViewPr>
        <p:scale>
          <a:sx n="120" d="100"/>
          <a:sy n="120" d="100"/>
        </p:scale>
        <p:origin x="144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47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</a:t>
            </a:r>
            <a:r>
              <a:rPr lang="en-US" sz="4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n-US" sz="4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7722"/>
                </a:solidFill>
                <a:latin typeface="Calibri" pitchFamily="34" charset="0"/>
                <a:cs typeface="Calibri" pitchFamily="34" charset="-120"/>
              </a:rPr>
              <a:t>Er. Dhiraj </a:t>
            </a:r>
            <a:r>
              <a:rPr lang="en-US" b="1" dirty="0" err="1">
                <a:solidFill>
                  <a:srgbClr val="E87722"/>
                </a:solidFill>
                <a:latin typeface="Calibri" pitchFamily="34" charset="0"/>
                <a:cs typeface="Calibri" pitchFamily="34" charset="-120"/>
              </a:rPr>
              <a:t>Bashyal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075E9-07AC-B76D-8BDE-911E31A859B4}"/>
              </a:ext>
            </a:extLst>
          </p:cNvPr>
          <p:cNvSpPr txBox="1"/>
          <p:nvPr/>
        </p:nvSpPr>
        <p:spPr>
          <a:xfrm>
            <a:off x="2286000" y="23890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P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FFB4F-750B-4447-B738-395F298939FF}"/>
              </a:ext>
            </a:extLst>
          </p:cNvPr>
          <p:cNvSpPr txBox="1"/>
          <p:nvPr/>
        </p:nvSpPr>
        <p:spPr>
          <a:xfrm>
            <a:off x="2286000" y="23890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1B0B1-95CF-B866-2030-6B988B969A01}"/>
              </a:ext>
            </a:extLst>
          </p:cNvPr>
          <p:cNvSpPr txBox="1"/>
          <p:nvPr/>
        </p:nvSpPr>
        <p:spPr>
          <a:xfrm>
            <a:off x="3036767" y="1700214"/>
            <a:ext cx="56806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YAFdJjTk5UU_0"/>
              </a:rPr>
              <a:t>Research paper : AN ENCODER DECODER MODEL FOR GRAMMATICAL ERROR</a:t>
            </a:r>
            <a:r>
              <a:rPr lang="en-US" dirty="0">
                <a:latin typeface="YAFdJjTk5UU_0"/>
              </a:rPr>
              <a:t> </a:t>
            </a:r>
            <a:r>
              <a:rPr lang="en-US" b="0" i="0" dirty="0">
                <a:effectLst/>
                <a:latin typeface="YAFdJjTk5UU_0"/>
              </a:rPr>
              <a:t>CORRECTION OF NEPALI TEXT</a:t>
            </a:r>
            <a:endParaRPr lang="en-US" dirty="0">
              <a:effectLst/>
              <a:latin typeface="YAFdJjTk5UU_0"/>
            </a:endParaRPr>
          </a:p>
          <a:p>
            <a:endParaRPr lang="en-NP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450C0-85A0-BA03-C010-0E9B1FBB6498}"/>
              </a:ext>
            </a:extLst>
          </p:cNvPr>
          <p:cNvSpPr txBox="1"/>
          <p:nvPr/>
        </p:nvSpPr>
        <p:spPr>
          <a:xfrm>
            <a:off x="3534310" y="277403"/>
            <a:ext cx="3690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FA8600"/>
                </a:solidFill>
                <a:effectLst/>
              </a:rPr>
              <a:t>WHO AM I</a:t>
            </a:r>
            <a:endParaRPr lang="en-NP" sz="2400" dirty="0">
              <a:solidFill>
                <a:srgbClr val="FA8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7944DB-46AC-C9FD-AB6F-86F9D0AD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68" y="646735"/>
            <a:ext cx="2235200" cy="3390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C7CEB3-ED59-AC5D-2991-FBDEF20320B3}"/>
              </a:ext>
            </a:extLst>
          </p:cNvPr>
          <p:cNvSpPr txBox="1"/>
          <p:nvPr/>
        </p:nvSpPr>
        <p:spPr>
          <a:xfrm>
            <a:off x="801568" y="4037635"/>
            <a:ext cx="1993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YAFdJj8NdaU_0"/>
              </a:rPr>
              <a:t>Dhiraj </a:t>
            </a:r>
            <a:r>
              <a:rPr lang="en-US" b="1" i="0" dirty="0" err="1">
                <a:effectLst/>
                <a:latin typeface="YAFdJj8NdaU_0"/>
              </a:rPr>
              <a:t>Bashyal</a:t>
            </a:r>
            <a:endParaRPr lang="en-US" dirty="0">
              <a:effectLst/>
              <a:latin typeface="YAFdJj8NdaU_0"/>
            </a:endParaRPr>
          </a:p>
          <a:p>
            <a:r>
              <a:rPr lang="en-US" b="1" i="0" dirty="0">
                <a:effectLst/>
                <a:latin typeface="YAFdJj8NdaU_0"/>
              </a:rPr>
              <a:t>AI/ML Engineer</a:t>
            </a:r>
            <a:endParaRPr lang="en-US" dirty="0">
              <a:effectLst/>
              <a:latin typeface="YAFdJj8NdaU_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EF7FF-F4AC-C894-FCE3-FA58DD8308E2}"/>
              </a:ext>
            </a:extLst>
          </p:cNvPr>
          <p:cNvSpPr txBox="1"/>
          <p:nvPr/>
        </p:nvSpPr>
        <p:spPr>
          <a:xfrm>
            <a:off x="3036767" y="924674"/>
            <a:ext cx="7439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YAFdJjTk5UU_0"/>
              </a:rPr>
              <a:t>MSc in Informatics and Intelligent Systems Engineering(MSIISE)</a:t>
            </a:r>
            <a:endParaRPr lang="en-US" dirty="0">
              <a:effectLst/>
              <a:latin typeface="YAFdJjTk5UU_0"/>
            </a:endParaRPr>
          </a:p>
          <a:p>
            <a:r>
              <a:rPr lang="en-US" b="0" i="0" dirty="0" err="1">
                <a:effectLst/>
                <a:latin typeface="YAFdJjTk5UU_0"/>
              </a:rPr>
              <a:t>Thapathali</a:t>
            </a:r>
            <a:r>
              <a:rPr lang="en-US" b="0" i="0" dirty="0">
                <a:effectLst/>
                <a:latin typeface="YAFdJjTk5UU_0"/>
              </a:rPr>
              <a:t> campus</a:t>
            </a:r>
            <a:endParaRPr lang="en-US" dirty="0">
              <a:effectLst/>
              <a:latin typeface="YAFdJjTk5UU_0"/>
            </a:endParaRPr>
          </a:p>
          <a:p>
            <a:endParaRPr lang="en-NP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7B1B06-2E76-71B3-BC2E-1BFBD0C9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577" y="2349998"/>
            <a:ext cx="1993004" cy="19930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A665A6-D199-027E-1DA1-8FAB9C003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577" y="4343002"/>
            <a:ext cx="1993004" cy="6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CDFB9-9024-91E9-FC74-9A1EABF843CF}"/>
              </a:ext>
            </a:extLst>
          </p:cNvPr>
          <p:cNvSpPr txBox="1"/>
          <p:nvPr/>
        </p:nvSpPr>
        <p:spPr>
          <a:xfrm>
            <a:off x="478465" y="648586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A8600"/>
                </a:solidFill>
                <a:effectLst/>
                <a:latin typeface="Helvetica" pitchFamily="2" charset="0"/>
              </a:rPr>
              <a:t>Day 1: </a:t>
            </a:r>
            <a:r>
              <a:rPr lang="en-US" sz="3200" dirty="0">
                <a:solidFill>
                  <a:srgbClr val="2A4B7E"/>
                </a:solidFill>
                <a:effectLst/>
                <a:latin typeface="Helvetica" pitchFamily="2" charset="0"/>
              </a:rPr>
              <a:t>ML Fundamentals + </a:t>
            </a:r>
            <a:r>
              <a:rPr lang="en-US" sz="3200" dirty="0" err="1">
                <a:solidFill>
                  <a:srgbClr val="2A4B7E"/>
                </a:solidFill>
                <a:effectLst/>
                <a:latin typeface="Helvetica" pitchFamily="2" charset="0"/>
              </a:rPr>
              <a:t>Colab</a:t>
            </a:r>
            <a:r>
              <a:rPr lang="en-US" sz="3200" dirty="0">
                <a:solidFill>
                  <a:srgbClr val="2A4B7E"/>
                </a:solidFill>
                <a:effectLst/>
                <a:latin typeface="Helvetica" pitchFamily="2" charset="0"/>
              </a:rPr>
              <a:t> Setup</a:t>
            </a:r>
          </a:p>
          <a:p>
            <a:endParaRPr lang="en-NP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0D715-6CA8-4D85-FAF8-65C589F7F5D1}"/>
              </a:ext>
            </a:extLst>
          </p:cNvPr>
          <p:cNvSpPr txBox="1"/>
          <p:nvPr/>
        </p:nvSpPr>
        <p:spPr>
          <a:xfrm>
            <a:off x="765545" y="1616149"/>
            <a:ext cx="76298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Introduction to 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ML Pipeline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Google </a:t>
            </a:r>
            <a:r>
              <a:rPr lang="en-US" sz="3200" dirty="0" err="1">
                <a:solidFill>
                  <a:srgbClr val="000000"/>
                </a:solidFill>
                <a:effectLst/>
                <a:latin typeface="Helvetica" pitchFamily="2" charset="0"/>
              </a:rPr>
              <a:t>Colab</a:t>
            </a: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 setup and usage</a:t>
            </a:r>
          </a:p>
          <a:p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197295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26080"/>
          <a:ext cx="731520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Bumpy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Sweet-Sour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learn by observing features and associating them with labels.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A55E1-C77C-E789-0E5D-2414E5947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93" y="1459907"/>
            <a:ext cx="3265967" cy="14661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NP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learn without being explicitly programmed.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or model that learns patterns in data and predicts similar patterns in new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029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experiences and examples.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822960" cy="822960"/>
          </a:xfrm>
          <a:prstGeom prst="ellipse">
            <a:avLst/>
          </a:prstGeom>
          <a:solidFill>
            <a:srgbClr val="FFF8F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822960" cy="822960"/>
          </a:xfrm>
          <a:prstGeom prst="ellipse">
            <a:avLst/>
          </a:prstGeom>
          <a:solidFill>
            <a:srgbClr val="FFF8F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1371600"/>
            <a:ext cx="822960" cy="822960"/>
          </a:xfrm>
          <a:prstGeom prst="ellipse">
            <a:avLst/>
          </a:prstGeom>
          <a:solidFill>
            <a:srgbClr val="FFF8F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06FAEF-C903-8739-C892-D36A5C8C3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698" y="1060450"/>
            <a:ext cx="3417477" cy="1629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84326-5D4F-486F-36A8-AEB6024E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09029" cy="50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3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9E76A-9929-B7EA-1D8E-EB51101EC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503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6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A8600"/>
                </a:solidFill>
              </a:rPr>
              <a:t>Can you recall the last time you experienced </a:t>
            </a:r>
            <a:r>
              <a:rPr lang="en-US" sz="4400" dirty="0"/>
              <a:t>machine learning in your daily life</a:t>
            </a:r>
            <a:r>
              <a:rPr lang="en-US" sz="4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Get </a:t>
            </a:r>
            <a:r>
              <a:rPr lang="en-US" sz="3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ML?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ways, with varying complexity: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Cloud-based or Mobile API (Vision, Natural Language, etc.)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existing model architecture, and retrain it or fine tune on your dataset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your own machine learning models for new problems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24928" y="1463040"/>
            <a:ext cx="73152" cy="2514600"/>
          </a:xfrm>
          <a:prstGeom prst="rect">
            <a:avLst/>
          </a:prstGeom>
          <a:solidFill>
            <a:srgbClr val="2050CC"/>
          </a:solidFill>
          <a:ln w="12700">
            <a:solidFill>
              <a:srgbClr val="205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097280"/>
            <a:ext cx="1325880" cy="2794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flexible,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0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more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0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0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ML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772400" cy="1820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NP" sz="1600" dirty="0"/>
              <a:t>🎤 </a:t>
            </a:r>
            <a:r>
              <a:rPr lang="en-US" sz="1600" b="1" dirty="0"/>
              <a:t>Speech Recognition</a:t>
            </a:r>
            <a:br>
              <a:rPr lang="en-US" sz="1600" dirty="0"/>
            </a:br>
            <a:r>
              <a:rPr lang="en-US" sz="1600" dirty="0"/>
              <a:t>ML makes it possible for systems to understand human voice (like voice assistants). 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NP" sz="1600" dirty="0"/>
              <a:t>🌐 </a:t>
            </a:r>
            <a:r>
              <a:rPr lang="en-US" sz="1600" b="1" dirty="0"/>
              <a:t>Machine Translation</a:t>
            </a:r>
            <a:br>
              <a:rPr lang="en-US" sz="1600" dirty="0"/>
            </a:br>
            <a:r>
              <a:rPr lang="en-US" sz="1600" dirty="0"/>
              <a:t>ML helps translate languages automatically (e.g., English → Nepali).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/>
              <a:t> </a:t>
            </a:r>
            <a:r>
              <a:rPr lang="en-NP" sz="1600" dirty="0"/>
              <a:t>📸 </a:t>
            </a:r>
            <a:r>
              <a:rPr lang="en-US" sz="1600" b="1" dirty="0"/>
              <a:t>Smart Search in Photos</a:t>
            </a:r>
            <a:br>
              <a:rPr lang="en-US" sz="1600" dirty="0"/>
            </a:br>
            <a:r>
              <a:rPr lang="en-US" sz="1600" dirty="0"/>
              <a:t>Apps like Google Photos use ML to find images by people, places, or objects. 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NP" sz="1600" dirty="0"/>
              <a:t>🚗 </a:t>
            </a:r>
            <a:r>
              <a:rPr lang="en-US" sz="1600" b="1" dirty="0"/>
              <a:t>Self-driving Cars</a:t>
            </a:r>
            <a:br>
              <a:rPr lang="en-US" sz="1600" dirty="0"/>
            </a:br>
            <a:r>
              <a:rPr lang="en-US" sz="1600" dirty="0"/>
              <a:t>ML helps detect pedestrians, roads, and other vehicles to drive safely.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ML, NN </a:t>
            </a:r>
            <a:r>
              <a:rPr lang="en-US" sz="3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Are all the same?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3657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188720"/>
            <a:ext cx="54864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188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
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of making things smart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2331720"/>
            <a:ext cx="3657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331720"/>
            <a:ext cx="54864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
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machines that can learn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3474720"/>
            <a:ext cx="3657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3474720"/>
            <a:ext cx="54864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474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
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algorithm in machine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188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terms are often used interchangeably, but they are distinct concepts that build upon one another.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FC03A-C9B4-EC46-B215-BCF1D8F96AEB}"/>
              </a:ext>
            </a:extLst>
          </p:cNvPr>
          <p:cNvSpPr txBox="1"/>
          <p:nvPr/>
        </p:nvSpPr>
        <p:spPr>
          <a:xfrm>
            <a:off x="2711302" y="457200"/>
            <a:ext cx="248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A8600"/>
                </a:solidFill>
              </a:rPr>
              <a:t>AI (Artificial </a:t>
            </a:r>
            <a:r>
              <a:rPr lang="en-US" dirty="0"/>
              <a:t>Intelligence)</a:t>
            </a:r>
            <a:endParaRPr lang="en-N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97022-9870-0CB0-DCCD-0EDB6F59EB00}"/>
              </a:ext>
            </a:extLst>
          </p:cNvPr>
          <p:cNvSpPr txBox="1"/>
          <p:nvPr/>
        </p:nvSpPr>
        <p:spPr>
          <a:xfrm>
            <a:off x="265814" y="1184498"/>
            <a:ext cx="85592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A8600"/>
                </a:solidFill>
              </a:rPr>
              <a:t>AI is the broad field </a:t>
            </a:r>
            <a:r>
              <a:rPr lang="en-US" dirty="0"/>
              <a:t>of making machines “intelligent,” meaning they can perform tasks that usually require human intelligence. </a:t>
            </a:r>
          </a:p>
          <a:p>
            <a:endParaRPr lang="en-US" dirty="0"/>
          </a:p>
          <a:p>
            <a:r>
              <a:rPr lang="en-US" b="1" dirty="0">
                <a:solidFill>
                  <a:srgbClr val="FA8600"/>
                </a:solidFill>
              </a:rPr>
              <a:t>Goal: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To simulate human reasoning, learning, problem-solving, and decision-making.</a:t>
            </a:r>
          </a:p>
          <a:p>
            <a:endParaRPr lang="en-US" dirty="0">
              <a:solidFill>
                <a:srgbClr val="FA8600"/>
              </a:solidFill>
            </a:endParaRPr>
          </a:p>
          <a:p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b="1" dirty="0">
                <a:solidFill>
                  <a:srgbClr val="FA8600"/>
                </a:solidFill>
              </a:rPr>
              <a:t>Examples in real life:</a:t>
            </a:r>
            <a:r>
              <a:rPr lang="en-US" dirty="0">
                <a:solidFill>
                  <a:srgbClr val="FA86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Siri or Google Assistant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Self-driving cars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systems (Netflix, YouTube) </a:t>
            </a:r>
          </a:p>
          <a:p>
            <a:endParaRPr lang="en-US" dirty="0"/>
          </a:p>
          <a:p>
            <a:r>
              <a:rPr lang="en-US" dirty="0">
                <a:solidFill>
                  <a:srgbClr val="FA8600"/>
                </a:solidFill>
              </a:rPr>
              <a:t>AI doesn’t always learn; sometimes it just follows rules (like chess algorithms).</a:t>
            </a:r>
            <a:endParaRPr lang="en-NP" dirty="0">
              <a:solidFill>
                <a:srgbClr val="FA8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79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28E07E-B8A3-9600-E69A-1666AA89931D}"/>
              </a:ext>
            </a:extLst>
          </p:cNvPr>
          <p:cNvSpPr txBox="1"/>
          <p:nvPr/>
        </p:nvSpPr>
        <p:spPr>
          <a:xfrm>
            <a:off x="412662" y="1095153"/>
            <a:ext cx="91983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A8600"/>
                </a:solidFill>
              </a:rPr>
              <a:t>ML is a </a:t>
            </a:r>
            <a:r>
              <a:rPr lang="en-US" b="1" dirty="0">
                <a:solidFill>
                  <a:srgbClr val="FA8600"/>
                </a:solidFill>
              </a:rPr>
              <a:t>subset of AI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where machines </a:t>
            </a:r>
            <a:r>
              <a:rPr lang="en-US" b="1" dirty="0"/>
              <a:t>learn from data</a:t>
            </a:r>
            <a:r>
              <a:rPr lang="en-US" dirty="0"/>
              <a:t> instead of being explicitly programmed with rules. </a:t>
            </a:r>
          </a:p>
          <a:p>
            <a:endParaRPr lang="en-US" dirty="0"/>
          </a:p>
          <a:p>
            <a:r>
              <a:rPr lang="en-US" b="1" dirty="0">
                <a:solidFill>
                  <a:srgbClr val="FA8600"/>
                </a:solidFill>
              </a:rPr>
              <a:t>Goal: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Teach machines to identify patterns and make predictions based on data.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FA8600"/>
              </a:solidFill>
            </a:endParaRPr>
          </a:p>
          <a:p>
            <a:r>
              <a:rPr lang="en-US" b="1" dirty="0">
                <a:solidFill>
                  <a:srgbClr val="FA8600"/>
                </a:solidFill>
              </a:rPr>
              <a:t>How it works:</a:t>
            </a:r>
            <a:r>
              <a:rPr lang="en-US" dirty="0">
                <a:solidFill>
                  <a:srgbClr val="FA86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give the model </a:t>
            </a:r>
            <a:r>
              <a:rPr lang="en-US" b="1" dirty="0"/>
              <a:t>data</a:t>
            </a:r>
            <a:r>
              <a:rPr lang="en-US" dirty="0"/>
              <a:t> (e.g., images, text, numbers).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</a:t>
            </a:r>
            <a:r>
              <a:rPr lang="en-US" b="1" dirty="0"/>
              <a:t>learns patterns</a:t>
            </a:r>
            <a:r>
              <a:rPr lang="en-US" dirty="0"/>
              <a:t> from the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 </a:t>
            </a:r>
            <a:r>
              <a:rPr lang="en-US" b="1" dirty="0"/>
              <a:t>predict or make decisions</a:t>
            </a:r>
            <a:r>
              <a:rPr lang="en-US" dirty="0"/>
              <a:t> for new unseen data. </a:t>
            </a:r>
          </a:p>
          <a:p>
            <a:r>
              <a:rPr lang="en-US" b="1" dirty="0">
                <a:solidFill>
                  <a:srgbClr val="FA8600"/>
                </a:solidFill>
              </a:rPr>
              <a:t>Examples:</a:t>
            </a:r>
            <a:r>
              <a:rPr lang="en-US" dirty="0">
                <a:solidFill>
                  <a:srgbClr val="FA86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Spam email detection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Fraud detection in banks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Stock price prediction </a:t>
            </a:r>
          </a:p>
          <a:p>
            <a:r>
              <a:rPr lang="en-US" dirty="0">
                <a:solidFill>
                  <a:srgbClr val="FA8600"/>
                </a:solidFill>
              </a:rPr>
              <a:t>ML requires </a:t>
            </a:r>
            <a:r>
              <a:rPr lang="en-US" b="1" dirty="0">
                <a:solidFill>
                  <a:srgbClr val="FA8600"/>
                </a:solidFill>
              </a:rPr>
              <a:t>data</a:t>
            </a:r>
            <a:r>
              <a:rPr lang="en-US" dirty="0">
                <a:solidFill>
                  <a:srgbClr val="FA8600"/>
                </a:solidFill>
              </a:rPr>
              <a:t> to improve performance over time.</a:t>
            </a:r>
          </a:p>
          <a:p>
            <a:endParaRPr lang="en-N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A05D6-0E34-0D72-B832-4A1B318D9EEC}"/>
              </a:ext>
            </a:extLst>
          </p:cNvPr>
          <p:cNvSpPr txBox="1"/>
          <p:nvPr/>
        </p:nvSpPr>
        <p:spPr>
          <a:xfrm>
            <a:off x="2626242" y="355028"/>
            <a:ext cx="2385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A8600"/>
                </a:solidFill>
              </a:rPr>
              <a:t>ML (Machine </a:t>
            </a:r>
            <a:r>
              <a:rPr lang="en-US" b="1" dirty="0"/>
              <a:t>Learning)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017107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D1EFCF-86D9-22AD-FD92-50CA99A751B8}"/>
              </a:ext>
            </a:extLst>
          </p:cNvPr>
          <p:cNvSpPr txBox="1"/>
          <p:nvPr/>
        </p:nvSpPr>
        <p:spPr>
          <a:xfrm>
            <a:off x="2849526" y="318977"/>
            <a:ext cx="2208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A8600"/>
                </a:solidFill>
              </a:rPr>
              <a:t>NN (Neural </a:t>
            </a:r>
            <a:r>
              <a:rPr lang="en-US" b="1" dirty="0"/>
              <a:t>Network)</a:t>
            </a:r>
          </a:p>
          <a:p>
            <a:endParaRPr lang="en-N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F7B06-D7EF-395A-CC59-DB70B8C87532}"/>
              </a:ext>
            </a:extLst>
          </p:cNvPr>
          <p:cNvSpPr txBox="1"/>
          <p:nvPr/>
        </p:nvSpPr>
        <p:spPr>
          <a:xfrm>
            <a:off x="170121" y="723015"/>
            <a:ext cx="87931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FA8600"/>
                </a:solidFill>
              </a:rPr>
              <a:t>NN is a </a:t>
            </a:r>
            <a:r>
              <a:rPr lang="en-US" b="1" dirty="0">
                <a:solidFill>
                  <a:srgbClr val="FA8600"/>
                </a:solidFill>
              </a:rPr>
              <a:t>type of ML model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inspired by the human brain. It consists of layers of “neurons” (nodes) that process data.</a:t>
            </a:r>
          </a:p>
          <a:p>
            <a:endParaRPr lang="en-US" dirty="0"/>
          </a:p>
          <a:p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b="1" dirty="0">
                <a:solidFill>
                  <a:srgbClr val="FA8600"/>
                </a:solidFill>
              </a:rPr>
              <a:t>Goal: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Learn complex patterns in data, especially when relationships are nonlinear.</a:t>
            </a:r>
          </a:p>
          <a:p>
            <a:endParaRPr lang="en-US" dirty="0">
              <a:solidFill>
                <a:srgbClr val="FA8600"/>
              </a:solidFill>
            </a:endParaRPr>
          </a:p>
          <a:p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b="1" dirty="0">
                <a:solidFill>
                  <a:srgbClr val="FA8600"/>
                </a:solidFill>
              </a:rPr>
              <a:t>Structure:</a:t>
            </a:r>
            <a:r>
              <a:rPr lang="en-US" dirty="0">
                <a:solidFill>
                  <a:srgbClr val="FA86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A8600"/>
                </a:solidFill>
              </a:rPr>
              <a:t>Input layer: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receives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A8600"/>
                </a:solidFill>
              </a:rPr>
              <a:t>Hidden layers: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process data through mathematical operations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A8600"/>
                </a:solidFill>
              </a:rPr>
              <a:t>Output layer: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gives prediction or classification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A8600"/>
                </a:solidFill>
              </a:rPr>
              <a:t>Examples: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Image recognition (detect cats vs dogs)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recognition (Alexa, Google Assistant)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Language translation (Google Translate)</a:t>
            </a:r>
          </a:p>
          <a:p>
            <a:r>
              <a:rPr lang="en-US" dirty="0">
                <a:solidFill>
                  <a:srgbClr val="FA8600"/>
                </a:solidFill>
              </a:rPr>
              <a:t> </a:t>
            </a:r>
          </a:p>
          <a:p>
            <a:r>
              <a:rPr lang="en-US" b="1" dirty="0">
                <a:solidFill>
                  <a:srgbClr val="FA8600"/>
                </a:solidFill>
              </a:rPr>
              <a:t>Key point:</a:t>
            </a:r>
            <a:r>
              <a:rPr lang="en-US" dirty="0">
                <a:solidFill>
                  <a:srgbClr val="FA8600"/>
                </a:solidFill>
              </a:rPr>
              <a:t> </a:t>
            </a:r>
            <a:r>
              <a:rPr lang="en-US" dirty="0"/>
              <a:t>Neural networks are very powerful for complex tasks like vision, speech, and NLP.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19316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A80253-710C-55F0-626B-1A69849BB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188"/>
            <a:ext cx="9144000" cy="39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467432-6B87-EBDD-2EE9-8646A8531F3D}"/>
              </a:ext>
            </a:extLst>
          </p:cNvPr>
          <p:cNvSpPr txBox="1"/>
          <p:nvPr/>
        </p:nvSpPr>
        <p:spPr>
          <a:xfrm>
            <a:off x="3997842" y="244549"/>
            <a:ext cx="22086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A8600"/>
                </a:solidFill>
              </a:rPr>
              <a:t>NN (Neural </a:t>
            </a:r>
            <a:r>
              <a:rPr lang="en-US" b="1" dirty="0"/>
              <a:t>Network)</a:t>
            </a:r>
          </a:p>
          <a:p>
            <a:endParaRPr lang="en-NP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867285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</a:t>
            </a:r>
            <a:r>
              <a:rPr lang="en-US" sz="3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What/Why/How of ML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can generate insights by learning from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54864" cy="1097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algorithms can learn faster, cheaper, and better than humans.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finding patterns in data.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2860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286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22860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286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356616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566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2011680"/>
            <a:ext cx="457200" cy="50292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926080"/>
            <a:ext cx="4572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624328"/>
            <a:ext cx="5486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691640"/>
            <a:ext cx="0" cy="59436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971800"/>
            <a:ext cx="0" cy="59436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</a:t>
            </a:r>
            <a:r>
              <a:rPr lang="en-US" sz="4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Training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(label: Apple)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4173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417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173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17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4173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17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Prediction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(Orange)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7033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33756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7033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33756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703320"/>
            <a:ext cx="36576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33756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337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35661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722"/>
                </a:solidFill>
              </a:rPr>
              <a:t>Orange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703320"/>
            <a:ext cx="914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148840"/>
            <a:ext cx="0" cy="118872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</a:t>
            </a:r>
            <a:r>
              <a:rPr lang="en-US" sz="3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'Learning'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3474720"/>
          </a:xfrm>
          <a:prstGeom prst="rect">
            <a:avLst/>
          </a:prstGeom>
          <a:solidFill>
            <a:srgbClr val="FFF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with labeled data. Teacher guides the learning process.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F0FF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4C9A2A"/>
          </a:solidFill>
          <a:ln w="12700">
            <a:solidFill>
              <a:srgbClr val="4C9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without labels. Data-driven grouping.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743200" cy="3474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2743200" cy="54864"/>
          </a:xfrm>
          <a:prstGeom prst="rect">
            <a:avLst/>
          </a:prstGeom>
          <a:solidFill>
            <a:srgbClr val="2060C0"/>
          </a:solidFill>
          <a:ln w="12700">
            <a:solidFill>
              <a:srgbClr val="206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6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trial and error to achieve goals via rewards.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292271" cy="287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machine using data that's well labelled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prior knowledge of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labelled with class or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driven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class or value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network, support vector machines, decision trees etc.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52942-7A42-83A7-67BB-916512C02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495" y="1188720"/>
            <a:ext cx="5462696" cy="25674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400292" cy="3266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with no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algorithm is not told what is being learnt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output class or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patterns or grouping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9B0D92-236B-8962-8005-3B4A260F9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372" y="1890380"/>
            <a:ext cx="5007935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</a:t>
            </a:r>
            <a:r>
              <a:rPr lang="en-US" sz="3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3526" y="1188719"/>
            <a:ext cx="3678865" cy="3106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unsupervised learning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unlabelled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evaluated and reward is fed back to change the algorithm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learns to act in a given environment to achieve a goal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driven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7B45A-D563-3FB7-B4F5-6D414BA7D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005" y="1188719"/>
            <a:ext cx="4933506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84ADC4-D1BF-CB0D-E221-8B1395527D64}"/>
              </a:ext>
            </a:extLst>
          </p:cNvPr>
          <p:cNvSpPr txBox="1"/>
          <p:nvPr/>
        </p:nvSpPr>
        <p:spPr>
          <a:xfrm>
            <a:off x="1137684" y="903768"/>
            <a:ext cx="64114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A8600"/>
                </a:solidFill>
              </a:rPr>
              <a:t>Do you have hands-on experience working with Python and its </a:t>
            </a:r>
            <a:r>
              <a:rPr lang="en-US" sz="3600" dirty="0"/>
              <a:t>data science libraries, including Pandas, NumPy, scikit-learn, and Matplotlib?</a:t>
            </a:r>
            <a:endParaRPr lang="en-NP" sz="3600" dirty="0"/>
          </a:p>
        </p:txBody>
      </p:sp>
    </p:spTree>
    <p:extLst>
      <p:ext uri="{BB962C8B-B14F-4D97-AF65-F5344CB8AC3E}">
        <p14:creationId xmlns:p14="http://schemas.microsoft.com/office/powerpoint/2010/main" val="16758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909</Words>
  <Application>Microsoft Macintosh PowerPoint</Application>
  <PresentationFormat>On-screen Show (16:9)</PresentationFormat>
  <Paragraphs>177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Helvetica</vt:lpstr>
      <vt:lpstr>YAFdJj8NdaU_0</vt:lpstr>
      <vt:lpstr>YAFdJjTk5UU_0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and TensorFlow</dc:title>
  <dc:subject>PptxGenJS Presentation</dc:subject>
  <dc:creator>PptxGenJS</dc:creator>
  <cp:lastModifiedBy>Microsoft Office User</cp:lastModifiedBy>
  <cp:revision>4</cp:revision>
  <dcterms:created xsi:type="dcterms:W3CDTF">2026-04-02T14:12:48Z</dcterms:created>
  <dcterms:modified xsi:type="dcterms:W3CDTF">2026-04-02T17:11:47Z</dcterms:modified>
</cp:coreProperties>
</file>